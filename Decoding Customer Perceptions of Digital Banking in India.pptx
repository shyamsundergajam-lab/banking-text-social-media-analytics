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9"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6" d="100"/>
          <a:sy n="96" d="100"/>
        </p:scale>
        <p:origin x="86"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820163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4126995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BDDF98-C922-483F-97E9-3E76B0201B42}"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276041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BDDF98-C922-483F-97E9-3E76B0201B42}"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999279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BDDF98-C922-483F-97E9-3E76B0201B42}"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571198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DDF98-C922-483F-97E9-3E76B0201B42}"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032168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BDDF98-C922-483F-97E9-3E76B0201B42}"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957443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03661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930045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8B3671-A306-4A69-8480-FA9BE839245D}" type="slidenum">
              <a:rPr lang="en-US" smtClean="0"/>
              <a:pPr/>
              <a:t>‹#›</a:t>
            </a:fld>
            <a:endParaRPr lang="en-US"/>
          </a:p>
        </p:txBody>
      </p:sp>
    </p:spTree>
    <p:extLst>
      <p:ext uri="{BB962C8B-B14F-4D97-AF65-F5344CB8AC3E}">
        <p14:creationId xmlns:p14="http://schemas.microsoft.com/office/powerpoint/2010/main" val="56686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8B3671-A306-4A69-8480-FA9BE839245D}" type="slidenum">
              <a:rPr lang="en-US" smtClean="0"/>
              <a:pPr/>
              <a:t>‹#›</a:t>
            </a:fld>
            <a:endParaRPr lang="en-US"/>
          </a:p>
        </p:txBody>
      </p:sp>
    </p:spTree>
    <p:extLst>
      <p:ext uri="{BB962C8B-B14F-4D97-AF65-F5344CB8AC3E}">
        <p14:creationId xmlns:p14="http://schemas.microsoft.com/office/powerpoint/2010/main" val="247361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8B3671-A306-4A69-8480-FA9BE839245D}" type="slidenum">
              <a:rPr lang="en-US" smtClean="0"/>
              <a:pPr/>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447129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8B3671-A306-4A69-8480-FA9BE839245D}" type="slidenum">
              <a:rPr lang="en-US" smtClean="0"/>
              <a:pPr/>
              <a:t>‹#›</a:t>
            </a:fld>
            <a:endParaRPr lang="en-US"/>
          </a:p>
        </p:txBody>
      </p:sp>
    </p:spTree>
    <p:extLst>
      <p:ext uri="{BB962C8B-B14F-4D97-AF65-F5344CB8AC3E}">
        <p14:creationId xmlns:p14="http://schemas.microsoft.com/office/powerpoint/2010/main" val="2378378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BDDF98-C922-483F-97E9-3E76B0201B42}" type="datetimeFigureOut">
              <a:rPr lang="en-US" smtClean="0"/>
              <a:pPr/>
              <a:t>11/13/2025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B8B3671-A306-4A69-8480-FA9BE839245D}" type="slidenum">
              <a:rPr lang="en-US" smtClean="0"/>
              <a:pPr/>
              <a:t>‹#›</a:t>
            </a:fld>
            <a:endParaRPr lang="en-US"/>
          </a:p>
        </p:txBody>
      </p:sp>
    </p:spTree>
    <p:extLst>
      <p:ext uri="{BB962C8B-B14F-4D97-AF65-F5344CB8AC3E}">
        <p14:creationId xmlns:p14="http://schemas.microsoft.com/office/powerpoint/2010/main" val="14811861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BDDF98-C922-483F-97E9-3E76B0201B42}" type="datetimeFigureOut">
              <a:rPr lang="en-US" smtClean="0"/>
              <a:pPr/>
              <a:t>11/13/2025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B8B3671-A306-4A69-8480-FA9BE839245D}" type="slidenum">
              <a:rPr lang="en-US" smtClean="0"/>
              <a:pPr/>
              <a:t>‹#›</a:t>
            </a:fld>
            <a:endParaRPr lang="en-US"/>
          </a:p>
        </p:txBody>
      </p:sp>
    </p:spTree>
    <p:extLst>
      <p:ext uri="{BB962C8B-B14F-4D97-AF65-F5344CB8AC3E}">
        <p14:creationId xmlns:p14="http://schemas.microsoft.com/office/powerpoint/2010/main" val="29862103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943565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244938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DBDDF98-C922-483F-97E9-3E76B0201B42}" type="datetimeFigureOut">
              <a:rPr lang="en-US" smtClean="0"/>
              <a:pPr/>
              <a:t>11/13/2025</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B8B3671-A306-4A69-8480-FA9BE839245D}" type="slidenum">
              <a:rPr lang="en-US" smtClean="0"/>
              <a:pPr/>
              <a:t>‹#›</a:t>
            </a:fld>
            <a:endParaRPr lang="en-US"/>
          </a:p>
        </p:txBody>
      </p:sp>
    </p:spTree>
    <p:extLst>
      <p:ext uri="{BB962C8B-B14F-4D97-AF65-F5344CB8AC3E}">
        <p14:creationId xmlns:p14="http://schemas.microsoft.com/office/powerpoint/2010/main" val="1513008993"/>
      </p:ext>
    </p:extLst>
  </p:cSld>
  <p:clrMap bg1="dk1" tx1="lt1" bg2="dk2" tx2="lt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697F03-DF51-51DE-EC44-3DA01D9C7F59}"/>
              </a:ext>
            </a:extLst>
          </p:cNvPr>
          <p:cNvPicPr>
            <a:picLocks noChangeAspect="1"/>
          </p:cNvPicPr>
          <p:nvPr/>
        </p:nvPicPr>
        <p:blipFill>
          <a:blip r:embed="rId2">
            <a:alphaModFix amt="60000"/>
          </a:blip>
          <a:srcRect t="17379" b="24180"/>
          <a:stretch>
            <a:fillRect/>
          </a:stretch>
        </p:blipFill>
        <p:spPr>
          <a:xfrm>
            <a:off x="20" y="10"/>
            <a:ext cx="12191978" cy="6857990"/>
          </a:xfrm>
          <a:prstGeom prst="rect">
            <a:avLst/>
          </a:prstGeom>
        </p:spPr>
      </p:pic>
      <p:sp>
        <p:nvSpPr>
          <p:cNvPr id="2" name="Title 1">
            <a:extLst>
              <a:ext uri="{FF2B5EF4-FFF2-40B4-BE49-F238E27FC236}">
                <a16:creationId xmlns:a16="http://schemas.microsoft.com/office/drawing/2014/main" id="{7B5F703E-774D-4BDB-B4C9-875A6E5E0969}"/>
              </a:ext>
            </a:extLst>
          </p:cNvPr>
          <p:cNvSpPr>
            <a:spLocks noGrp="1"/>
          </p:cNvSpPr>
          <p:nvPr>
            <p:ph type="ctrTitle"/>
          </p:nvPr>
        </p:nvSpPr>
        <p:spPr>
          <a:xfrm>
            <a:off x="6631388" y="2033018"/>
            <a:ext cx="4860026" cy="2116348"/>
          </a:xfrm>
          <a:noFill/>
        </p:spPr>
        <p:txBody>
          <a:bodyPr anchor="ctr">
            <a:normAutofit/>
          </a:bodyPr>
          <a:lstStyle/>
          <a:p>
            <a:pPr algn="r">
              <a:lnSpc>
                <a:spcPct val="110000"/>
              </a:lnSpc>
            </a:pPr>
            <a:r>
              <a:rPr lang="en-US" sz="2000" dirty="0">
                <a:solidFill>
                  <a:srgbClr val="FFFFFF"/>
                </a:solidFill>
              </a:rPr>
              <a:t>Decoding Customer Perceptions of Digital Banking in India: A Social Media Analytics Approach</a:t>
            </a:r>
            <a:endParaRPr lang="en-IN" sz="2000" dirty="0">
              <a:solidFill>
                <a:srgbClr val="FFFFFF"/>
              </a:solidFill>
            </a:endParaRPr>
          </a:p>
        </p:txBody>
      </p:sp>
      <p:sp>
        <p:nvSpPr>
          <p:cNvPr id="3" name="Subtitle 2">
            <a:extLst>
              <a:ext uri="{FF2B5EF4-FFF2-40B4-BE49-F238E27FC236}">
                <a16:creationId xmlns:a16="http://schemas.microsoft.com/office/drawing/2014/main" id="{F4B3A699-7DA5-4575-A859-FCE0643BDBE0}"/>
              </a:ext>
            </a:extLst>
          </p:cNvPr>
          <p:cNvSpPr>
            <a:spLocks noGrp="1"/>
          </p:cNvSpPr>
          <p:nvPr>
            <p:ph type="subTitle" idx="1"/>
          </p:nvPr>
        </p:nvSpPr>
        <p:spPr>
          <a:xfrm>
            <a:off x="7375713" y="4497355"/>
            <a:ext cx="3354752" cy="945063"/>
          </a:xfrm>
          <a:noFill/>
        </p:spPr>
        <p:txBody>
          <a:bodyPr anchor="b">
            <a:normAutofit/>
          </a:bodyPr>
          <a:lstStyle/>
          <a:p>
            <a:pPr algn="r">
              <a:lnSpc>
                <a:spcPct val="110000"/>
              </a:lnSpc>
            </a:pPr>
            <a:r>
              <a:rPr lang="en-US" sz="1100" b="1">
                <a:solidFill>
                  <a:srgbClr val="FFFFFF"/>
                </a:solidFill>
              </a:rPr>
              <a:t>MBA (Business Analytics)</a:t>
            </a:r>
            <a:br>
              <a:rPr lang="en-US" sz="1100">
                <a:solidFill>
                  <a:srgbClr val="FFFFFF"/>
                </a:solidFill>
              </a:rPr>
            </a:br>
            <a:r>
              <a:rPr lang="en-US" sz="1100" b="1">
                <a:solidFill>
                  <a:srgbClr val="FFFFFF"/>
                </a:solidFill>
              </a:rPr>
              <a:t>University of Hyderabad</a:t>
            </a:r>
            <a:br>
              <a:rPr lang="en-US" sz="1100">
                <a:solidFill>
                  <a:srgbClr val="FFFFFF"/>
                </a:solidFill>
              </a:rPr>
            </a:br>
            <a:r>
              <a:rPr lang="en-US" sz="1100" b="1">
                <a:solidFill>
                  <a:srgbClr val="FFFFFF"/>
                </a:solidFill>
              </a:rPr>
              <a:t>Presented by:</a:t>
            </a:r>
            <a:r>
              <a:rPr lang="en-US" sz="1100">
                <a:solidFill>
                  <a:srgbClr val="FFFFFF"/>
                </a:solidFill>
              </a:rPr>
              <a:t> </a:t>
            </a:r>
            <a:r>
              <a:rPr lang="en-US" sz="1100" i="1">
                <a:solidFill>
                  <a:srgbClr val="FFFFFF"/>
                </a:solidFill>
              </a:rPr>
              <a:t>Gajam Shyam Sunder</a:t>
            </a:r>
            <a:br>
              <a:rPr lang="en-US" sz="1100">
                <a:solidFill>
                  <a:srgbClr val="FFFFFF"/>
                </a:solidFill>
              </a:rPr>
            </a:br>
            <a:r>
              <a:rPr lang="en-US" sz="1100" b="1">
                <a:solidFill>
                  <a:srgbClr val="FFFFFF"/>
                </a:solidFill>
              </a:rPr>
              <a:t>Roll No:</a:t>
            </a:r>
            <a:r>
              <a:rPr lang="en-US" sz="1100">
                <a:solidFill>
                  <a:srgbClr val="FFFFFF"/>
                </a:solidFill>
              </a:rPr>
              <a:t> </a:t>
            </a:r>
            <a:r>
              <a:rPr lang="en-US" sz="1100" i="1">
                <a:solidFill>
                  <a:srgbClr val="FFFFFF"/>
                </a:solidFill>
              </a:rPr>
              <a:t>24MBMB32</a:t>
            </a:r>
            <a:endParaRPr lang="en-IN" sz="1100">
              <a:solidFill>
                <a:srgbClr val="FFFFFF"/>
              </a:solidFill>
            </a:endParaRPr>
          </a:p>
        </p:txBody>
      </p:sp>
    </p:spTree>
    <p:extLst>
      <p:ext uri="{BB962C8B-B14F-4D97-AF65-F5344CB8AC3E}">
        <p14:creationId xmlns:p14="http://schemas.microsoft.com/office/powerpoint/2010/main" val="4241387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ECB9C-1002-443D-81DC-46E433DD8C8C}"/>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838AFBE2-29CF-4D34-927E-32C1B45FCB0B}"/>
              </a:ext>
            </a:extLst>
          </p:cNvPr>
          <p:cNvSpPr>
            <a:spLocks noGrp="1"/>
          </p:cNvSpPr>
          <p:nvPr>
            <p:ph idx="1"/>
          </p:nvPr>
        </p:nvSpPr>
        <p:spPr/>
        <p:txBody>
          <a:bodyPr/>
          <a:lstStyle/>
          <a:p>
            <a:r>
              <a:rPr lang="en-US" dirty="0"/>
              <a:t>The rapid growth of digital banking in India has led to massive customer interactions through social media platforms such as Twitter. Customers actively share experiences related to UPI transactions, app performance, fraud concerns, promotions, and service quality. This presents a valuable opportunity for banks to leverage </a:t>
            </a:r>
            <a:r>
              <a:rPr lang="en-US" b="1" dirty="0"/>
              <a:t>Text Analytics</a:t>
            </a:r>
            <a:r>
              <a:rPr lang="en-US" dirty="0"/>
              <a:t> and </a:t>
            </a:r>
            <a:r>
              <a:rPr lang="en-US" b="1" dirty="0"/>
              <a:t>Social Media Web Mining</a:t>
            </a:r>
            <a:r>
              <a:rPr lang="en-US" dirty="0"/>
              <a:t> to better understand customer behavior, sentiment, and expectations.</a:t>
            </a:r>
          </a:p>
          <a:p>
            <a:r>
              <a:rPr lang="en-US" dirty="0"/>
              <a:t>This project applies </a:t>
            </a:r>
            <a:r>
              <a:rPr lang="en-US" b="1" dirty="0"/>
              <a:t>five NLP-driven analytical use cases</a:t>
            </a:r>
            <a:r>
              <a:rPr lang="en-US" dirty="0"/>
              <a:t> to banking-related tweets. These methods include sentiment analysis, topic modeling, complaint classification, entity recognition, and keyword extraction. Using tools such as </a:t>
            </a:r>
            <a:r>
              <a:rPr lang="en-US" b="1" dirty="0"/>
              <a:t>Python, Google </a:t>
            </a:r>
            <a:r>
              <a:rPr lang="en-US" b="1" dirty="0" err="1"/>
              <a:t>Colab</a:t>
            </a:r>
            <a:r>
              <a:rPr lang="en-US" b="1" dirty="0"/>
              <a:t>, </a:t>
            </a:r>
            <a:r>
              <a:rPr lang="en-US" b="1" dirty="0" err="1"/>
              <a:t>spaCy</a:t>
            </a:r>
            <a:r>
              <a:rPr lang="en-US" b="1" dirty="0"/>
              <a:t>, </a:t>
            </a:r>
            <a:r>
              <a:rPr lang="en-US" b="1" dirty="0" err="1"/>
              <a:t>gensim</a:t>
            </a:r>
            <a:r>
              <a:rPr lang="en-US" b="1" dirty="0"/>
              <a:t>, VADER, YAKE, and </a:t>
            </a:r>
            <a:r>
              <a:rPr lang="en-US" b="1" dirty="0" err="1"/>
              <a:t>scikit</a:t>
            </a:r>
            <a:r>
              <a:rPr lang="en-US" b="1" dirty="0"/>
              <a:t>-learn</a:t>
            </a:r>
            <a:r>
              <a:rPr lang="en-US" dirty="0"/>
              <a:t>, the project demonstrates how text analytics can uncover insights that support customer experience improvement and operational decision-making.</a:t>
            </a:r>
          </a:p>
          <a:p>
            <a:pPr marL="36900" indent="0">
              <a:buNone/>
            </a:pPr>
            <a:endParaRPr lang="en-IN" dirty="0"/>
          </a:p>
        </p:txBody>
      </p:sp>
    </p:spTree>
    <p:extLst>
      <p:ext uri="{BB962C8B-B14F-4D97-AF65-F5344CB8AC3E}">
        <p14:creationId xmlns:p14="http://schemas.microsoft.com/office/powerpoint/2010/main" val="3944703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43915-A9A8-40D8-BB4C-E5F708025117}"/>
              </a:ext>
            </a:extLst>
          </p:cNvPr>
          <p:cNvSpPr>
            <a:spLocks noGrp="1"/>
          </p:cNvSpPr>
          <p:nvPr>
            <p:ph type="title"/>
          </p:nvPr>
        </p:nvSpPr>
        <p:spPr/>
        <p:txBody>
          <a:bodyPr/>
          <a:lstStyle/>
          <a:p>
            <a:r>
              <a:rPr lang="en-IN" dirty="0"/>
              <a:t>Objectives </a:t>
            </a:r>
          </a:p>
        </p:txBody>
      </p:sp>
      <p:sp>
        <p:nvSpPr>
          <p:cNvPr id="4" name="Rectangle 1">
            <a:extLst>
              <a:ext uri="{FF2B5EF4-FFF2-40B4-BE49-F238E27FC236}">
                <a16:creationId xmlns:a16="http://schemas.microsoft.com/office/drawing/2014/main" id="{42668D0E-B0B0-4129-BDA0-0EFCBAF1E8BE}"/>
              </a:ext>
            </a:extLst>
          </p:cNvPr>
          <p:cNvSpPr>
            <a:spLocks noGrp="1" noChangeArrowheads="1"/>
          </p:cNvSpPr>
          <p:nvPr>
            <p:ph idx="1"/>
          </p:nvPr>
        </p:nvSpPr>
        <p:spPr bwMode="auto">
          <a:xfrm>
            <a:off x="675254" y="2300889"/>
            <a:ext cx="1106086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analyze customer perceptions of digital banking using NLP.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classify major issues faced by customers (failure, service, fraud, promotions).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identify key discussion themes through topic modeling.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detect important entities such as bank names, fraud indicators, transaction terms, and monetary amounts.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extract the most common keywords associated with customer complaints.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compare public vs private bank performance through sentiment and topic distribution.</a:t>
            </a:r>
          </a:p>
        </p:txBody>
      </p:sp>
    </p:spTree>
    <p:extLst>
      <p:ext uri="{BB962C8B-B14F-4D97-AF65-F5344CB8AC3E}">
        <p14:creationId xmlns:p14="http://schemas.microsoft.com/office/powerpoint/2010/main" val="1848853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780C4-4907-4FC1-B80C-1ECA38C53973}"/>
              </a:ext>
            </a:extLst>
          </p:cNvPr>
          <p:cNvSpPr>
            <a:spLocks noGrp="1"/>
          </p:cNvSpPr>
          <p:nvPr>
            <p:ph type="title"/>
          </p:nvPr>
        </p:nvSpPr>
        <p:spPr/>
        <p:txBody>
          <a:bodyPr/>
          <a:lstStyle/>
          <a:p>
            <a:r>
              <a:rPr lang="en-IN" dirty="0"/>
              <a:t>Tools Used</a:t>
            </a:r>
          </a:p>
        </p:txBody>
      </p:sp>
      <p:sp>
        <p:nvSpPr>
          <p:cNvPr id="4" name="Rectangle 1">
            <a:extLst>
              <a:ext uri="{FF2B5EF4-FFF2-40B4-BE49-F238E27FC236}">
                <a16:creationId xmlns:a16="http://schemas.microsoft.com/office/drawing/2014/main" id="{DDC60D1D-426C-4BF9-8F07-79710E0AA747}"/>
              </a:ext>
            </a:extLst>
          </p:cNvPr>
          <p:cNvSpPr>
            <a:spLocks noGrp="1" noChangeArrowheads="1"/>
          </p:cNvSpPr>
          <p:nvPr>
            <p:ph idx="1"/>
          </p:nvPr>
        </p:nvSpPr>
        <p:spPr bwMode="auto">
          <a:xfrm>
            <a:off x="1048968" y="2434765"/>
            <a:ext cx="1064740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Programming:</a:t>
            </a:r>
            <a:r>
              <a:rPr kumimoji="0" lang="en-US" altLang="en-US" sz="1800" b="0" i="0" u="none" strike="noStrike" cap="none" normalizeH="0" baseline="0">
                <a:ln>
                  <a:noFill/>
                </a:ln>
                <a:solidFill>
                  <a:schemeClr val="tx1"/>
                </a:solidFill>
                <a:effectLst/>
                <a:latin typeface="Arial" panose="020B0604020202020204" pitchFamily="34" charset="0"/>
              </a:rPr>
              <a:t>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Platforms:</a:t>
            </a:r>
            <a:r>
              <a:rPr kumimoji="0" lang="en-US" altLang="en-US" sz="1800" b="0" i="0" u="none" strike="noStrike" cap="none" normalizeH="0" baseline="0">
                <a:ln>
                  <a:noFill/>
                </a:ln>
                <a:solidFill>
                  <a:schemeClr val="tx1"/>
                </a:solidFill>
                <a:effectLst/>
                <a:latin typeface="Arial" panose="020B0604020202020204" pitchFamily="34" charset="0"/>
              </a:rPr>
              <a:t> Google Colab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Libraries:</a:t>
            </a:r>
            <a:r>
              <a:rPr kumimoji="0" lang="en-US" altLang="en-US" sz="1800" b="0" i="0" u="none" strike="noStrike" cap="none" normalizeH="0" baseline="0">
                <a:ln>
                  <a:noFill/>
                </a:ln>
                <a:solidFill>
                  <a:schemeClr val="tx1"/>
                </a:solidFill>
                <a:effectLst/>
                <a:latin typeface="Arial" panose="020B0604020202020204" pitchFamily="34" charset="0"/>
              </a:rPr>
              <a:t> pandas, numpy, spaCy, gensim, VADER, YAKE, RAKE, scikit-learn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Techniques:</a:t>
            </a:r>
            <a:r>
              <a:rPr kumimoji="0" lang="en-US" altLang="en-US" sz="1800" b="0" i="0" u="none" strike="noStrike" cap="none" normalizeH="0" baseline="0">
                <a:ln>
                  <a:noFill/>
                </a:ln>
                <a:solidFill>
                  <a:schemeClr val="tx1"/>
                </a:solidFill>
                <a:effectLst/>
                <a:latin typeface="Arial" panose="020B0604020202020204" pitchFamily="34" charset="0"/>
              </a:rPr>
              <a:t> NLP preprocessing, sentiment scoring, LDA topic modeling, TF-IDF vectorization, Logistic Regression classification, Named Entity Recognition</a:t>
            </a:r>
          </a:p>
        </p:txBody>
      </p:sp>
    </p:spTree>
    <p:extLst>
      <p:ext uri="{BB962C8B-B14F-4D97-AF65-F5344CB8AC3E}">
        <p14:creationId xmlns:p14="http://schemas.microsoft.com/office/powerpoint/2010/main" val="2647631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70F8A-616B-4580-8DF1-0AF9865207CF}"/>
              </a:ext>
            </a:extLst>
          </p:cNvPr>
          <p:cNvSpPr>
            <a:spLocks noGrp="1"/>
          </p:cNvSpPr>
          <p:nvPr>
            <p:ph type="title"/>
          </p:nvPr>
        </p:nvSpPr>
        <p:spPr/>
        <p:txBody>
          <a:bodyPr/>
          <a:lstStyle/>
          <a:p>
            <a:r>
              <a:rPr lang="en-US" dirty="0"/>
              <a:t>Overview of Five NLP Use Cases</a:t>
            </a:r>
            <a:endParaRPr lang="en-IN" dirty="0"/>
          </a:p>
        </p:txBody>
      </p:sp>
      <p:sp>
        <p:nvSpPr>
          <p:cNvPr id="3" name="Content Placeholder 2">
            <a:extLst>
              <a:ext uri="{FF2B5EF4-FFF2-40B4-BE49-F238E27FC236}">
                <a16:creationId xmlns:a16="http://schemas.microsoft.com/office/drawing/2014/main" id="{85620677-5C70-4731-99CA-8D72EB32D593}"/>
              </a:ext>
            </a:extLst>
          </p:cNvPr>
          <p:cNvSpPr>
            <a:spLocks noGrp="1"/>
          </p:cNvSpPr>
          <p:nvPr>
            <p:ph idx="1"/>
          </p:nvPr>
        </p:nvSpPr>
        <p:spPr/>
        <p:txBody>
          <a:bodyPr>
            <a:normAutofit fontScale="92500" lnSpcReduction="20000"/>
          </a:bodyPr>
          <a:lstStyle/>
          <a:p>
            <a:pPr marL="36900" indent="0">
              <a:buNone/>
            </a:pPr>
            <a:r>
              <a:rPr lang="en-US" dirty="0"/>
              <a:t>This project focuses on analyzing 1,500+ synthetic banking tweets across five real-world use cases:</a:t>
            </a:r>
          </a:p>
          <a:p>
            <a:r>
              <a:rPr lang="en-US" b="1" dirty="0"/>
              <a:t>Sentiment Analysis (Public vs Private Banks)</a:t>
            </a:r>
            <a:br>
              <a:rPr lang="en-US" dirty="0"/>
            </a:br>
            <a:r>
              <a:rPr lang="en-US" dirty="0"/>
              <a:t>VADER-based sentiment scores used to compare overall customer satisfaction.</a:t>
            </a:r>
          </a:p>
          <a:p>
            <a:r>
              <a:rPr lang="en-US" b="1" dirty="0"/>
              <a:t>Topic Modeling on Negative Tweets</a:t>
            </a:r>
            <a:br>
              <a:rPr lang="en-US" dirty="0"/>
            </a:br>
            <a:r>
              <a:rPr lang="en-US" dirty="0"/>
              <a:t>LDA model used to identify dominant themes behind customer complaints.</a:t>
            </a:r>
          </a:p>
          <a:p>
            <a:r>
              <a:rPr lang="en-US" b="1" dirty="0"/>
              <a:t>Complaint Category Classification (ML Model)</a:t>
            </a:r>
            <a:br>
              <a:rPr lang="en-US" dirty="0"/>
            </a:br>
            <a:r>
              <a:rPr lang="en-US" dirty="0"/>
              <a:t>Logistic Regression trained on TF-IDF features to classify tweets into four categories.</a:t>
            </a:r>
          </a:p>
          <a:p>
            <a:r>
              <a:rPr lang="en-US" b="1" dirty="0"/>
              <a:t>Named Entity Recognition (NER)</a:t>
            </a:r>
            <a:br>
              <a:rPr lang="en-US" dirty="0"/>
            </a:br>
            <a:r>
              <a:rPr lang="en-US" dirty="0"/>
              <a:t>Using </a:t>
            </a:r>
            <a:r>
              <a:rPr lang="en-US" dirty="0" err="1"/>
              <a:t>spaCy</a:t>
            </a:r>
            <a:r>
              <a:rPr lang="en-US" dirty="0"/>
              <a:t> + rule-based matchers to extract banking-specific entities.</a:t>
            </a:r>
          </a:p>
          <a:p>
            <a:r>
              <a:rPr lang="en-US" b="1" dirty="0"/>
              <a:t>Keyword Extraction (YAKE, RAKE)</a:t>
            </a:r>
            <a:br>
              <a:rPr lang="en-US" dirty="0"/>
            </a:br>
            <a:r>
              <a:rPr lang="en-US" dirty="0"/>
              <a:t>Identify high-frequency phrases related to customer frustration and service gaps.</a:t>
            </a:r>
          </a:p>
          <a:p>
            <a:pPr marL="36900" indent="0">
              <a:buNone/>
            </a:pPr>
            <a:r>
              <a:rPr lang="en-US" dirty="0"/>
              <a:t>Each use case provides a unique perspective and combined they offer a holistic understanding of digital banking customer experience in India.</a:t>
            </a:r>
          </a:p>
          <a:p>
            <a:pPr marL="36900" indent="0">
              <a:buNone/>
            </a:pPr>
            <a:endParaRPr lang="en-IN" dirty="0"/>
          </a:p>
        </p:txBody>
      </p:sp>
    </p:spTree>
    <p:extLst>
      <p:ext uri="{BB962C8B-B14F-4D97-AF65-F5344CB8AC3E}">
        <p14:creationId xmlns:p14="http://schemas.microsoft.com/office/powerpoint/2010/main" val="94319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A7BCA-3E7F-4FAA-B70D-3F8CDEAA9C56}"/>
              </a:ext>
            </a:extLst>
          </p:cNvPr>
          <p:cNvSpPr>
            <a:spLocks noGrp="1"/>
          </p:cNvSpPr>
          <p:nvPr>
            <p:ph type="title"/>
          </p:nvPr>
        </p:nvSpPr>
        <p:spPr/>
        <p:txBody>
          <a:bodyPr>
            <a:noAutofit/>
          </a:bodyPr>
          <a:lstStyle/>
          <a:p>
            <a:r>
              <a:rPr lang="en-US" sz="3200" dirty="0"/>
              <a:t>Use Case 1 &amp; Use Case 2 (Implementation + Insights)</a:t>
            </a:r>
            <a:endParaRPr lang="en-IN" sz="3200" dirty="0"/>
          </a:p>
        </p:txBody>
      </p:sp>
      <p:sp>
        <p:nvSpPr>
          <p:cNvPr id="3" name="Content Placeholder 2">
            <a:extLst>
              <a:ext uri="{FF2B5EF4-FFF2-40B4-BE49-F238E27FC236}">
                <a16:creationId xmlns:a16="http://schemas.microsoft.com/office/drawing/2014/main" id="{83A27DE8-E6CD-48A1-8C2F-D3C61DDF9510}"/>
              </a:ext>
            </a:extLst>
          </p:cNvPr>
          <p:cNvSpPr>
            <a:spLocks noGrp="1"/>
          </p:cNvSpPr>
          <p:nvPr>
            <p:ph idx="1"/>
          </p:nvPr>
        </p:nvSpPr>
        <p:spPr>
          <a:xfrm>
            <a:off x="913795" y="1732449"/>
            <a:ext cx="10353762" cy="4515951"/>
          </a:xfrm>
        </p:spPr>
        <p:txBody>
          <a:bodyPr>
            <a:normAutofit fontScale="55000" lnSpcReduction="20000"/>
          </a:bodyPr>
          <a:lstStyle/>
          <a:p>
            <a:pPr marL="36900" indent="0">
              <a:buNone/>
            </a:pPr>
            <a:r>
              <a:rPr lang="en-US" b="1" dirty="0"/>
              <a:t>Use Case 1: Sentiment Analysis</a:t>
            </a:r>
          </a:p>
          <a:p>
            <a:pPr marL="36900" indent="0">
              <a:buNone/>
            </a:pPr>
            <a:r>
              <a:rPr lang="en-US" dirty="0"/>
              <a:t>Using the VADER sentiment analyzer, each tweet was assigned a sentiment score and label (positive, neutral, negative). Results were aggregated to compare the sentiment distribution of </a:t>
            </a:r>
            <a:r>
              <a:rPr lang="en-US" b="1" dirty="0"/>
              <a:t>public vs private banks</a:t>
            </a:r>
            <a:r>
              <a:rPr lang="en-US" dirty="0"/>
              <a:t>.</a:t>
            </a:r>
          </a:p>
          <a:p>
            <a:pPr marL="36900" indent="0">
              <a:buNone/>
            </a:pPr>
            <a:br>
              <a:rPr lang="en-US" dirty="0"/>
            </a:br>
            <a:r>
              <a:rPr lang="en-US" b="1" dirty="0"/>
              <a:t>Outcome:</a:t>
            </a:r>
            <a:endParaRPr lang="en-US" dirty="0"/>
          </a:p>
          <a:p>
            <a:r>
              <a:rPr lang="en-US" dirty="0"/>
              <a:t>Private banks showed higher negative sentiment related to UPI failures and app issues.</a:t>
            </a:r>
          </a:p>
          <a:p>
            <a:r>
              <a:rPr lang="en-US" dirty="0"/>
              <a:t>Public banks saw more neutral sentiment but several complaints around service delays.</a:t>
            </a:r>
          </a:p>
          <a:p>
            <a:r>
              <a:rPr lang="en-US" dirty="0"/>
              <a:t>Time-based trends indicated spikes during high-usage periods (e.g., month end, holidays).</a:t>
            </a:r>
          </a:p>
          <a:p>
            <a:pPr marL="36900" indent="0">
              <a:buNone/>
            </a:pPr>
            <a:endParaRPr lang="en-US" dirty="0"/>
          </a:p>
          <a:p>
            <a:pPr marL="36900" indent="0">
              <a:buNone/>
            </a:pPr>
            <a:r>
              <a:rPr lang="en-US" b="1" dirty="0"/>
              <a:t>Use Case 2: Topic Modeling (LDA)</a:t>
            </a:r>
          </a:p>
          <a:p>
            <a:pPr marL="36900" indent="0">
              <a:buNone/>
            </a:pPr>
            <a:r>
              <a:rPr lang="en-US" dirty="0"/>
              <a:t>LDA was applied only to </a:t>
            </a:r>
            <a:r>
              <a:rPr lang="en-US" b="1" dirty="0"/>
              <a:t>negative tweets</a:t>
            </a:r>
            <a:r>
              <a:rPr lang="en-US" dirty="0"/>
              <a:t>, enabling the identification of major complaint themes.</a:t>
            </a:r>
          </a:p>
          <a:p>
            <a:pPr marL="36900" indent="0">
              <a:buNone/>
            </a:pPr>
            <a:br>
              <a:rPr lang="en-US" dirty="0"/>
            </a:br>
            <a:r>
              <a:rPr lang="en-US" b="1" dirty="0"/>
              <a:t>Discovered topics included:</a:t>
            </a:r>
            <a:endParaRPr lang="en-US" dirty="0"/>
          </a:p>
          <a:p>
            <a:r>
              <a:rPr lang="en-US" b="1" dirty="0"/>
              <a:t>UPI &amp; payment failure</a:t>
            </a:r>
            <a:r>
              <a:rPr lang="en-US" dirty="0"/>
              <a:t> (money debited, not credited, server issues)</a:t>
            </a:r>
          </a:p>
          <a:p>
            <a:r>
              <a:rPr lang="en-US" b="1" dirty="0"/>
              <a:t>Customer service delays</a:t>
            </a:r>
            <a:r>
              <a:rPr lang="en-US" dirty="0"/>
              <a:t> (no response, long waiting times)</a:t>
            </a:r>
          </a:p>
          <a:p>
            <a:r>
              <a:rPr lang="en-US" b="1" dirty="0"/>
              <a:t>App login &amp; OTP issues</a:t>
            </a:r>
            <a:r>
              <a:rPr lang="en-US" dirty="0"/>
              <a:t> (authentication failures, app crashing)</a:t>
            </a:r>
          </a:p>
          <a:p>
            <a:r>
              <a:rPr lang="en-US" b="1" dirty="0"/>
              <a:t>Cashback &amp; offer-related grievances</a:t>
            </a:r>
            <a:endParaRPr lang="en-US" dirty="0"/>
          </a:p>
          <a:p>
            <a:pPr marL="36900" indent="0">
              <a:buNone/>
            </a:pPr>
            <a:r>
              <a:rPr lang="en-US" dirty="0"/>
              <a:t>These topics help banks pinpoint operational bottlenecks and prioritize issue resolution.</a:t>
            </a:r>
          </a:p>
          <a:p>
            <a:endParaRPr lang="en-IN" dirty="0"/>
          </a:p>
        </p:txBody>
      </p:sp>
    </p:spTree>
    <p:extLst>
      <p:ext uri="{BB962C8B-B14F-4D97-AF65-F5344CB8AC3E}">
        <p14:creationId xmlns:p14="http://schemas.microsoft.com/office/powerpoint/2010/main" val="1233933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6E7CF-5436-426E-92B0-0F168E440848}"/>
              </a:ext>
            </a:extLst>
          </p:cNvPr>
          <p:cNvSpPr>
            <a:spLocks noGrp="1"/>
          </p:cNvSpPr>
          <p:nvPr>
            <p:ph type="title"/>
          </p:nvPr>
        </p:nvSpPr>
        <p:spPr/>
        <p:txBody>
          <a:bodyPr/>
          <a:lstStyle/>
          <a:p>
            <a:r>
              <a:rPr lang="en-US" dirty="0"/>
              <a:t>Use Case 3: Complaint Classification (ML)</a:t>
            </a:r>
            <a:endParaRPr lang="en-IN" dirty="0"/>
          </a:p>
        </p:txBody>
      </p:sp>
      <p:sp>
        <p:nvSpPr>
          <p:cNvPr id="3" name="Content Placeholder 2">
            <a:extLst>
              <a:ext uri="{FF2B5EF4-FFF2-40B4-BE49-F238E27FC236}">
                <a16:creationId xmlns:a16="http://schemas.microsoft.com/office/drawing/2014/main" id="{A0184083-EA62-4C64-9F3A-7C2FD3C62A70}"/>
              </a:ext>
            </a:extLst>
          </p:cNvPr>
          <p:cNvSpPr>
            <a:spLocks noGrp="1"/>
          </p:cNvSpPr>
          <p:nvPr>
            <p:ph idx="1"/>
          </p:nvPr>
        </p:nvSpPr>
        <p:spPr/>
        <p:txBody>
          <a:bodyPr>
            <a:normAutofit fontScale="70000" lnSpcReduction="20000"/>
          </a:bodyPr>
          <a:lstStyle/>
          <a:p>
            <a:pPr marL="36900" indent="0">
              <a:buNone/>
            </a:pPr>
            <a:r>
              <a:rPr lang="en-US" dirty="0"/>
              <a:t>A supervised machine learning model was developed to classify tweets into four categories — failure, service, promotion, and fraud.</a:t>
            </a:r>
          </a:p>
          <a:p>
            <a:pPr marL="36900" indent="0">
              <a:buNone/>
            </a:pPr>
            <a:r>
              <a:rPr lang="en-US" b="1" dirty="0"/>
              <a:t>Methodology</a:t>
            </a:r>
          </a:p>
          <a:p>
            <a:r>
              <a:rPr lang="en-US" dirty="0"/>
              <a:t>Text preprocessing and lemmatization</a:t>
            </a:r>
          </a:p>
          <a:p>
            <a:r>
              <a:rPr lang="en-US" dirty="0"/>
              <a:t>TF-IDF vectorization of tweets</a:t>
            </a:r>
          </a:p>
          <a:p>
            <a:r>
              <a:rPr lang="en-US" dirty="0"/>
              <a:t>Train/Test split with stratified sampling</a:t>
            </a:r>
          </a:p>
          <a:p>
            <a:r>
              <a:rPr lang="en-US" dirty="0"/>
              <a:t>Logistic Regression (best performance) and Naive Bayes used for modeling</a:t>
            </a:r>
          </a:p>
          <a:p>
            <a:r>
              <a:rPr lang="en-US" dirty="0"/>
              <a:t>Performance evaluated using accuracy and F1 score</a:t>
            </a:r>
          </a:p>
          <a:p>
            <a:pPr marL="36900" indent="0">
              <a:buNone/>
            </a:pPr>
            <a:r>
              <a:rPr lang="en-US" b="1" dirty="0"/>
              <a:t>Results</a:t>
            </a:r>
          </a:p>
          <a:p>
            <a:r>
              <a:rPr lang="en-US" dirty="0"/>
              <a:t>Logistic Regression achieved </a:t>
            </a:r>
            <a:r>
              <a:rPr lang="en-US" b="1" dirty="0"/>
              <a:t>100% accuracy</a:t>
            </a:r>
            <a:r>
              <a:rPr lang="en-US" dirty="0"/>
              <a:t> on the test set, with perfect macro F1 score.</a:t>
            </a:r>
          </a:p>
          <a:p>
            <a:r>
              <a:rPr lang="en-US" dirty="0"/>
              <a:t>Naive Bayes also performed with near-perfect accuracy.</a:t>
            </a:r>
          </a:p>
          <a:p>
            <a:r>
              <a:rPr lang="en-US" dirty="0"/>
              <a:t>High accuracy is justified due to the synthetic dataset containing clear category patterns.</a:t>
            </a:r>
          </a:p>
          <a:p>
            <a:pPr marL="36900" indent="0">
              <a:buNone/>
            </a:pPr>
            <a:r>
              <a:rPr lang="en-US" dirty="0"/>
              <a:t>This model can be integrated into customer service workflows to </a:t>
            </a:r>
            <a:r>
              <a:rPr lang="en-US" b="1" dirty="0"/>
              <a:t>auto-route complaints</a:t>
            </a:r>
            <a:r>
              <a:rPr lang="en-US" dirty="0"/>
              <a:t> to appropriate departments.</a:t>
            </a:r>
          </a:p>
          <a:p>
            <a:endParaRPr lang="en-IN" dirty="0"/>
          </a:p>
        </p:txBody>
      </p:sp>
    </p:spTree>
    <p:extLst>
      <p:ext uri="{BB962C8B-B14F-4D97-AF65-F5344CB8AC3E}">
        <p14:creationId xmlns:p14="http://schemas.microsoft.com/office/powerpoint/2010/main" val="3306986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035DA-F11D-4E83-9DF7-1B88D361E83E}"/>
              </a:ext>
            </a:extLst>
          </p:cNvPr>
          <p:cNvSpPr>
            <a:spLocks noGrp="1"/>
          </p:cNvSpPr>
          <p:nvPr>
            <p:ph type="title"/>
          </p:nvPr>
        </p:nvSpPr>
        <p:spPr/>
        <p:txBody>
          <a:bodyPr/>
          <a:lstStyle/>
          <a:p>
            <a:r>
              <a:rPr lang="en-US" dirty="0"/>
              <a:t>Use Case 4 &amp; Use Case 5 (NER &amp; Keywords)</a:t>
            </a:r>
            <a:endParaRPr lang="en-IN" dirty="0"/>
          </a:p>
        </p:txBody>
      </p:sp>
      <p:sp>
        <p:nvSpPr>
          <p:cNvPr id="3" name="Content Placeholder 2">
            <a:extLst>
              <a:ext uri="{FF2B5EF4-FFF2-40B4-BE49-F238E27FC236}">
                <a16:creationId xmlns:a16="http://schemas.microsoft.com/office/drawing/2014/main" id="{40DDD605-8D7C-41B4-B93E-25475AE9F6BF}"/>
              </a:ext>
            </a:extLst>
          </p:cNvPr>
          <p:cNvSpPr>
            <a:spLocks noGrp="1"/>
          </p:cNvSpPr>
          <p:nvPr>
            <p:ph idx="1"/>
          </p:nvPr>
        </p:nvSpPr>
        <p:spPr/>
        <p:txBody>
          <a:bodyPr>
            <a:normAutofit fontScale="55000" lnSpcReduction="20000"/>
          </a:bodyPr>
          <a:lstStyle/>
          <a:p>
            <a:pPr marL="36900" indent="0">
              <a:buNone/>
            </a:pPr>
            <a:r>
              <a:rPr lang="en-US" b="1" dirty="0"/>
              <a:t>Use Case 4: Named Entity Recognition (NER)</a:t>
            </a:r>
          </a:p>
          <a:p>
            <a:pPr marL="36900" indent="0">
              <a:buNone/>
            </a:pPr>
            <a:r>
              <a:rPr lang="en-US" dirty="0" err="1"/>
              <a:t>spaCy’s</a:t>
            </a:r>
            <a:r>
              <a:rPr lang="en-US" dirty="0"/>
              <a:t> pretrained NER, combined with custom rule-based matchers, extracted key entities:</a:t>
            </a:r>
          </a:p>
          <a:p>
            <a:r>
              <a:rPr lang="en-US" b="1" dirty="0"/>
              <a:t>ORG:</a:t>
            </a:r>
            <a:r>
              <a:rPr lang="en-US" dirty="0"/>
              <a:t> ICICI Bank, SBI, Axis Bank</a:t>
            </a:r>
          </a:p>
          <a:p>
            <a:r>
              <a:rPr lang="en-US" b="1" dirty="0"/>
              <a:t>MONEY:</a:t>
            </a:r>
            <a:r>
              <a:rPr lang="en-US" dirty="0"/>
              <a:t> ₹1000, ₹5000, ₹100 cashback</a:t>
            </a:r>
          </a:p>
          <a:p>
            <a:r>
              <a:rPr lang="en-US" b="1" dirty="0"/>
              <a:t>BANK_SERVICE:</a:t>
            </a:r>
            <a:r>
              <a:rPr lang="en-US" dirty="0"/>
              <a:t> UPI, mobile banking, debit card, net banking</a:t>
            </a:r>
          </a:p>
          <a:p>
            <a:r>
              <a:rPr lang="en-US" b="1" dirty="0"/>
              <a:t>FRAUD_TERM:</a:t>
            </a:r>
            <a:r>
              <a:rPr lang="en-US" dirty="0"/>
              <a:t> phishing, scam, hacked, unauthorized access</a:t>
            </a:r>
          </a:p>
          <a:p>
            <a:r>
              <a:rPr lang="en-US" b="1" dirty="0"/>
              <a:t>PROMOTION:</a:t>
            </a:r>
            <a:r>
              <a:rPr lang="en-US" dirty="0"/>
              <a:t> cashback, reward, discount</a:t>
            </a:r>
          </a:p>
          <a:p>
            <a:pPr marL="36900" indent="0">
              <a:buNone/>
            </a:pPr>
            <a:r>
              <a:rPr lang="en-US" dirty="0"/>
              <a:t>This helps banks track fraud signals, understand service demand, and localize problem areas.</a:t>
            </a:r>
          </a:p>
          <a:p>
            <a:pPr marL="36900" indent="0">
              <a:buNone/>
            </a:pPr>
            <a:endParaRPr lang="en-US" dirty="0"/>
          </a:p>
          <a:p>
            <a:pPr marL="36900" indent="0">
              <a:buNone/>
            </a:pPr>
            <a:r>
              <a:rPr lang="en-US" b="1" dirty="0"/>
              <a:t>Use Case 5: Keyword Extraction</a:t>
            </a:r>
          </a:p>
          <a:p>
            <a:pPr marL="36900" indent="0">
              <a:buNone/>
            </a:pPr>
            <a:r>
              <a:rPr lang="en-US" dirty="0"/>
              <a:t>Using YAKE and RAKE, the most common keywords in negative tweets were identified:</a:t>
            </a:r>
          </a:p>
          <a:p>
            <a:r>
              <a:rPr lang="en-US" dirty="0"/>
              <a:t>“payment failed”, “</a:t>
            </a:r>
            <a:r>
              <a:rPr lang="en-US" dirty="0" err="1"/>
              <a:t>upi</a:t>
            </a:r>
            <a:r>
              <a:rPr lang="en-US" dirty="0"/>
              <a:t> issue”, “server down”, “money debited not credited”</a:t>
            </a:r>
          </a:p>
          <a:p>
            <a:r>
              <a:rPr lang="en-US" dirty="0"/>
              <a:t>“customer care delay”</a:t>
            </a:r>
          </a:p>
          <a:p>
            <a:r>
              <a:rPr lang="en-US" dirty="0"/>
              <a:t>“cashback not received”</a:t>
            </a:r>
          </a:p>
          <a:p>
            <a:pPr marL="36900" indent="0">
              <a:buNone/>
            </a:pPr>
            <a:r>
              <a:rPr lang="en-US" dirty="0"/>
              <a:t>These keywords summarize the </a:t>
            </a:r>
            <a:r>
              <a:rPr lang="en-US" b="1" dirty="0"/>
              <a:t>root causes</a:t>
            </a:r>
            <a:r>
              <a:rPr lang="en-US" dirty="0"/>
              <a:t> driving negative customer experience.</a:t>
            </a:r>
          </a:p>
          <a:p>
            <a:endParaRPr lang="en-IN" dirty="0"/>
          </a:p>
        </p:txBody>
      </p:sp>
    </p:spTree>
    <p:extLst>
      <p:ext uri="{BB962C8B-B14F-4D97-AF65-F5344CB8AC3E}">
        <p14:creationId xmlns:p14="http://schemas.microsoft.com/office/powerpoint/2010/main" val="1136825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F1AC3-7B48-46F3-8C3F-D4B4F6571818}"/>
              </a:ext>
            </a:extLst>
          </p:cNvPr>
          <p:cNvSpPr>
            <a:spLocks noGrp="1"/>
          </p:cNvSpPr>
          <p:nvPr>
            <p:ph type="title"/>
          </p:nvPr>
        </p:nvSpPr>
        <p:spPr/>
        <p:txBody>
          <a:bodyPr/>
          <a:lstStyle/>
          <a:p>
            <a:r>
              <a:rPr lang="en-IN" dirty="0"/>
              <a:t>Business Impact </a:t>
            </a:r>
          </a:p>
        </p:txBody>
      </p:sp>
      <p:sp>
        <p:nvSpPr>
          <p:cNvPr id="3" name="Content Placeholder 2">
            <a:extLst>
              <a:ext uri="{FF2B5EF4-FFF2-40B4-BE49-F238E27FC236}">
                <a16:creationId xmlns:a16="http://schemas.microsoft.com/office/drawing/2014/main" id="{7A21D013-3B5A-4AD3-8D5D-1B78636FF32F}"/>
              </a:ext>
            </a:extLst>
          </p:cNvPr>
          <p:cNvSpPr>
            <a:spLocks noGrp="1"/>
          </p:cNvSpPr>
          <p:nvPr>
            <p:ph idx="1"/>
          </p:nvPr>
        </p:nvSpPr>
        <p:spPr/>
        <p:txBody>
          <a:bodyPr/>
          <a:lstStyle/>
          <a:p>
            <a:pPr marL="36900" indent="0">
              <a:buNone/>
            </a:pPr>
            <a:r>
              <a:rPr lang="en-US" b="1" dirty="0"/>
              <a:t>Business Impact</a:t>
            </a:r>
          </a:p>
          <a:p>
            <a:r>
              <a:rPr lang="en-US" dirty="0"/>
              <a:t>Banks gain deeper insights into customer frustrations and digital service performance.</a:t>
            </a:r>
          </a:p>
          <a:p>
            <a:r>
              <a:rPr lang="en-US" dirty="0"/>
              <a:t>Topic modeling helps prioritize problem areas such as UPI reliability and customer support delays.</a:t>
            </a:r>
          </a:p>
          <a:p>
            <a:r>
              <a:rPr lang="en-US" dirty="0"/>
              <a:t>Fraud-related entities detected via NER assist in early threat monitoring.</a:t>
            </a:r>
          </a:p>
          <a:p>
            <a:r>
              <a:rPr lang="en-US" dirty="0"/>
              <a:t>Keyword analysis provides a direct view into the exact phrases customers use when complaining.</a:t>
            </a:r>
          </a:p>
          <a:p>
            <a:r>
              <a:rPr lang="en-US" dirty="0"/>
              <a:t>The classification model enables automated triaging of customer issues.</a:t>
            </a:r>
          </a:p>
          <a:p>
            <a:pPr marL="36900" indent="0">
              <a:buNone/>
            </a:pPr>
            <a:endParaRPr lang="en-IN" dirty="0"/>
          </a:p>
        </p:txBody>
      </p:sp>
    </p:spTree>
    <p:extLst>
      <p:ext uri="{BB962C8B-B14F-4D97-AF65-F5344CB8AC3E}">
        <p14:creationId xmlns:p14="http://schemas.microsoft.com/office/powerpoint/2010/main" val="3251528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04F11-DAB7-4940-8636-8112827EC23D}"/>
              </a:ext>
            </a:extLst>
          </p:cNvPr>
          <p:cNvSpPr>
            <a:spLocks noGrp="1"/>
          </p:cNvSpPr>
          <p:nvPr>
            <p:ph type="title"/>
          </p:nvPr>
        </p:nvSpPr>
        <p:spPr/>
        <p:txBody>
          <a:bodyPr/>
          <a:lstStyle/>
          <a:p>
            <a:r>
              <a:rPr lang="en-IN" dirty="0"/>
              <a:t>Conclusions</a:t>
            </a:r>
          </a:p>
        </p:txBody>
      </p:sp>
      <p:sp>
        <p:nvSpPr>
          <p:cNvPr id="3" name="Content Placeholder 2">
            <a:extLst>
              <a:ext uri="{FF2B5EF4-FFF2-40B4-BE49-F238E27FC236}">
                <a16:creationId xmlns:a16="http://schemas.microsoft.com/office/drawing/2014/main" id="{2B0E2C3C-E389-4E4D-9EA1-17D4F1C8FE36}"/>
              </a:ext>
            </a:extLst>
          </p:cNvPr>
          <p:cNvSpPr>
            <a:spLocks noGrp="1"/>
          </p:cNvSpPr>
          <p:nvPr>
            <p:ph idx="1"/>
          </p:nvPr>
        </p:nvSpPr>
        <p:spPr/>
        <p:txBody>
          <a:bodyPr/>
          <a:lstStyle/>
          <a:p>
            <a:pPr marL="36900" indent="0">
              <a:buNone/>
            </a:pPr>
            <a:r>
              <a:rPr lang="en-US" dirty="0"/>
              <a:t>Text &amp; Social Media Analytics significantly strengthen customer experience strategies. By analyzing customer conversations at scale, banks can:</a:t>
            </a:r>
          </a:p>
          <a:p>
            <a:r>
              <a:rPr lang="en-US" dirty="0"/>
              <a:t>Improve digital banking infrastructure</a:t>
            </a:r>
          </a:p>
          <a:p>
            <a:r>
              <a:rPr lang="en-US" dirty="0"/>
              <a:t>Reduce complaints and fraud</a:t>
            </a:r>
          </a:p>
          <a:p>
            <a:r>
              <a:rPr lang="en-US" dirty="0"/>
              <a:t>Enhance marketing effectiveness</a:t>
            </a:r>
          </a:p>
          <a:p>
            <a:r>
              <a:rPr lang="en-US" dirty="0"/>
              <a:t>Make data-driven decisions for app improvements and service design</a:t>
            </a:r>
          </a:p>
          <a:p>
            <a:endParaRPr lang="en-IN" dirty="0"/>
          </a:p>
        </p:txBody>
      </p:sp>
    </p:spTree>
    <p:extLst>
      <p:ext uri="{BB962C8B-B14F-4D97-AF65-F5344CB8AC3E}">
        <p14:creationId xmlns:p14="http://schemas.microsoft.com/office/powerpoint/2010/main" val="407666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5792E-B82D-4068-92A4-4F4C4DE43DEE}"/>
              </a:ext>
            </a:extLst>
          </p:cNvPr>
          <p:cNvSpPr>
            <a:spLocks noGrp="1"/>
          </p:cNvSpPr>
          <p:nvPr>
            <p:ph type="title"/>
          </p:nvPr>
        </p:nvSpPr>
        <p:spPr/>
        <p:txBody>
          <a:bodyPr/>
          <a:lstStyle/>
          <a:p>
            <a:r>
              <a:rPr lang="en-IN" dirty="0"/>
              <a:t>Future Scope</a:t>
            </a:r>
          </a:p>
        </p:txBody>
      </p:sp>
      <p:sp>
        <p:nvSpPr>
          <p:cNvPr id="4" name="Rectangle 1">
            <a:extLst>
              <a:ext uri="{FF2B5EF4-FFF2-40B4-BE49-F238E27FC236}">
                <a16:creationId xmlns:a16="http://schemas.microsoft.com/office/drawing/2014/main" id="{A567F765-D2D3-4C42-8702-2347FF4E6142}"/>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Apply multilingual NLP for Hindi + regional languages.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BERT or transformer-based models for deeper understanding.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Integrate real-time social media monitoring dashboards.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Deploy complaint classification model into chatbot support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Enhance fraud detection with entity co-occurrence network analysis.</a:t>
            </a:r>
          </a:p>
        </p:txBody>
      </p:sp>
    </p:spTree>
    <p:extLst>
      <p:ext uri="{BB962C8B-B14F-4D97-AF65-F5344CB8AC3E}">
        <p14:creationId xmlns:p14="http://schemas.microsoft.com/office/powerpoint/2010/main" val="18477887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103</TotalTime>
  <Words>1065</Words>
  <Application>Microsoft Office PowerPoint</Application>
  <PresentationFormat>Widescreen</PresentationFormat>
  <Paragraphs>89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Calisto MT</vt:lpstr>
      <vt:lpstr>Wingdings 2</vt:lpstr>
      <vt:lpstr>Slate</vt:lpstr>
      <vt:lpstr>Decoding Customer Perceptions of Digital Banking in India: A Social Media Analytics Approach</vt:lpstr>
      <vt:lpstr>Introduction</vt:lpstr>
      <vt:lpstr>Objectives </vt:lpstr>
      <vt:lpstr>Tools Used</vt:lpstr>
      <vt:lpstr>Overview of Five NLP Use Cases</vt:lpstr>
      <vt:lpstr>Use Case 1 &amp; Use Case 2 (Implementation + Insights)</vt:lpstr>
      <vt:lpstr>Use Case 3: Complaint Classification (ML)</vt:lpstr>
      <vt:lpstr>Use Case 4 &amp; Use Case 5 (NER &amp; Keywords)</vt:lpstr>
      <vt:lpstr>Business Impact </vt:lpstr>
      <vt:lpstr>Conclusions</vt:lpstr>
      <vt:lpstr>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Decoding Customer Perceptions of Digital Banking in India: A Social Media Analytics Approach</dc:title>
  <dc:creator>shyam</dc:creator>
  <cp:lastModifiedBy>shyam</cp:lastModifiedBy>
  <cp:revision>1</cp:revision>
  <dcterms:created xsi:type="dcterms:W3CDTF">2025-11-13T17:42:23Z</dcterms:created>
  <dcterms:modified xsi:type="dcterms:W3CDTF">2025-11-13T19:25:43Z</dcterms:modified>
</cp:coreProperties>
</file>